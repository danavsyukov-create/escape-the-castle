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17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8.svg"/><Relationship Id="rId3" Type="http://schemas.openxmlformats.org/officeDocument/2006/relationships/image" Target="../media/image2.png"/><Relationship Id="rId12" Type="http://schemas.openxmlformats.org/officeDocument/2006/relationships/image" Target="../media/image-2-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-2-6.svg"/><Relationship Id="rId5" Type="http://schemas.openxmlformats.org/officeDocument/2006/relationships/image" Target="../media/image-2-4.svg"/><Relationship Id="rId10" Type="http://schemas.openxmlformats.org/officeDocument/2006/relationships/image" Target="../media/image-2-10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933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Escape the Castle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79284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2D Платформер на Python с использованием Arcade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3017520"/>
            <a:ext cx="621911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Разработано командой Крестоносцы 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280190" y="378297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4010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01908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63713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2551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80190" y="68732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Сделали: Авсюков Даниил и Третьяков Матвей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3649"/>
            <a:ext cx="6561296" cy="565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Основные возможности игры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1647" y="1822371"/>
            <a:ext cx="6433066" cy="1626394"/>
          </a:xfrm>
          <a:prstGeom prst="roundRect">
            <a:avLst>
              <a:gd name="adj" fmla="val 6747"/>
            </a:avLst>
          </a:prstGeom>
          <a:solidFill>
            <a:srgbClr val="464342"/>
          </a:solidFill>
          <a:ln/>
        </p:spPr>
      </p:sp>
      <p:sp>
        <p:nvSpPr>
          <p:cNvPr id="4" name="Shape 2"/>
          <p:cNvSpPr/>
          <p:nvPr/>
        </p:nvSpPr>
        <p:spPr>
          <a:xfrm>
            <a:off x="791647" y="1799511"/>
            <a:ext cx="6433066" cy="91440"/>
          </a:xfrm>
          <a:prstGeom prst="roundRect">
            <a:avLst>
              <a:gd name="adj" fmla="val 29685"/>
            </a:avLst>
          </a:prstGeom>
          <a:solidFill>
            <a:srgbClr val="C49F8C"/>
          </a:solidFill>
          <a:ln/>
        </p:spPr>
      </p:sp>
      <p:sp>
        <p:nvSpPr>
          <p:cNvPr id="5" name="Shape 3"/>
          <p:cNvSpPr/>
          <p:nvPr/>
        </p:nvSpPr>
        <p:spPr>
          <a:xfrm>
            <a:off x="3736717" y="1551027"/>
            <a:ext cx="542806" cy="542806"/>
          </a:xfrm>
          <a:prstGeom prst="roundRect">
            <a:avLst>
              <a:gd name="adj" fmla="val 168458"/>
            </a:avLst>
          </a:prstGeom>
          <a:solidFill>
            <a:srgbClr val="C49F8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899595" y="1713905"/>
            <a:ext cx="217051" cy="2170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5363" y="2274689"/>
            <a:ext cx="337720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Плавная анимация персонажа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95363" y="2665928"/>
            <a:ext cx="602563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Ходьба, прыжки, подъём по лестницам — каждое движение оживает на экране благодаря детальной анимации.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05568" y="1822371"/>
            <a:ext cx="6433185" cy="1626394"/>
          </a:xfrm>
          <a:prstGeom prst="roundRect">
            <a:avLst>
              <a:gd name="adj" fmla="val 6747"/>
            </a:avLst>
          </a:prstGeom>
          <a:solidFill>
            <a:srgbClr val="464342"/>
          </a:solidFill>
          <a:ln/>
        </p:spPr>
      </p:sp>
      <p:sp>
        <p:nvSpPr>
          <p:cNvPr id="10" name="Shape 7"/>
          <p:cNvSpPr/>
          <p:nvPr/>
        </p:nvSpPr>
        <p:spPr>
          <a:xfrm>
            <a:off x="7405568" y="1799511"/>
            <a:ext cx="6433185" cy="91440"/>
          </a:xfrm>
          <a:prstGeom prst="roundRect">
            <a:avLst>
              <a:gd name="adj" fmla="val 29685"/>
            </a:avLst>
          </a:prstGeom>
          <a:solidFill>
            <a:srgbClr val="C49F8C"/>
          </a:solidFill>
          <a:ln/>
        </p:spPr>
      </p:sp>
      <p:sp>
        <p:nvSpPr>
          <p:cNvPr id="11" name="Shape 8"/>
          <p:cNvSpPr/>
          <p:nvPr/>
        </p:nvSpPr>
        <p:spPr>
          <a:xfrm>
            <a:off x="10350758" y="1551027"/>
            <a:ext cx="542806" cy="542806"/>
          </a:xfrm>
          <a:prstGeom prst="roundRect">
            <a:avLst>
              <a:gd name="adj" fmla="val 168458"/>
            </a:avLst>
          </a:prstGeom>
          <a:solidFill>
            <a:srgbClr val="C49F8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513635" y="1713905"/>
            <a:ext cx="217051" cy="2170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09284" y="2274689"/>
            <a:ext cx="4331256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Система частиц и визуальные эффекты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609284" y="2665928"/>
            <a:ext cx="602575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Погрузитесь в атмосферу игры с динамичными частицами и захватывающими визуальными эффектами.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91647" y="3900964"/>
            <a:ext cx="6433066" cy="1626394"/>
          </a:xfrm>
          <a:prstGeom prst="roundRect">
            <a:avLst>
              <a:gd name="adj" fmla="val 6747"/>
            </a:avLst>
          </a:prstGeom>
          <a:solidFill>
            <a:srgbClr val="464342"/>
          </a:solidFill>
          <a:ln/>
        </p:spPr>
      </p:sp>
      <p:sp>
        <p:nvSpPr>
          <p:cNvPr id="16" name="Shape 12"/>
          <p:cNvSpPr/>
          <p:nvPr/>
        </p:nvSpPr>
        <p:spPr>
          <a:xfrm>
            <a:off x="791647" y="3878104"/>
            <a:ext cx="6433066" cy="91440"/>
          </a:xfrm>
          <a:prstGeom prst="roundRect">
            <a:avLst>
              <a:gd name="adj" fmla="val 29685"/>
            </a:avLst>
          </a:prstGeom>
          <a:solidFill>
            <a:srgbClr val="C49F8C"/>
          </a:solidFill>
          <a:ln/>
        </p:spPr>
      </p:sp>
      <p:sp>
        <p:nvSpPr>
          <p:cNvPr id="17" name="Shape 13"/>
          <p:cNvSpPr/>
          <p:nvPr/>
        </p:nvSpPr>
        <p:spPr>
          <a:xfrm>
            <a:off x="3736717" y="3629620"/>
            <a:ext cx="542806" cy="542806"/>
          </a:xfrm>
          <a:prstGeom prst="roundRect">
            <a:avLst>
              <a:gd name="adj" fmla="val 168458"/>
            </a:avLst>
          </a:prstGeom>
          <a:solidFill>
            <a:srgbClr val="C49F8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899595" y="3792498"/>
            <a:ext cx="217051" cy="2170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95363" y="4353282"/>
            <a:ext cx="2836664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Звуковое сопровождение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95363" y="4744522"/>
            <a:ext cx="602563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От шагов и прыжков до фоновой музыки — каждый звук создает уникальное игровое впечатление.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7405568" y="3900964"/>
            <a:ext cx="6433185" cy="1626394"/>
          </a:xfrm>
          <a:prstGeom prst="roundRect">
            <a:avLst>
              <a:gd name="adj" fmla="val 6747"/>
            </a:avLst>
          </a:prstGeom>
          <a:solidFill>
            <a:srgbClr val="464342"/>
          </a:solidFill>
          <a:ln/>
        </p:spPr>
      </p:sp>
      <p:sp>
        <p:nvSpPr>
          <p:cNvPr id="22" name="Shape 17"/>
          <p:cNvSpPr/>
          <p:nvPr/>
        </p:nvSpPr>
        <p:spPr>
          <a:xfrm>
            <a:off x="7405568" y="3878104"/>
            <a:ext cx="6433185" cy="91440"/>
          </a:xfrm>
          <a:prstGeom prst="roundRect">
            <a:avLst>
              <a:gd name="adj" fmla="val 29685"/>
            </a:avLst>
          </a:prstGeom>
          <a:solidFill>
            <a:srgbClr val="C49F8C"/>
          </a:solidFill>
          <a:ln/>
        </p:spPr>
      </p:sp>
      <p:sp>
        <p:nvSpPr>
          <p:cNvPr id="23" name="Shape 18"/>
          <p:cNvSpPr/>
          <p:nvPr/>
        </p:nvSpPr>
        <p:spPr>
          <a:xfrm>
            <a:off x="10350758" y="3629620"/>
            <a:ext cx="542806" cy="542806"/>
          </a:xfrm>
          <a:prstGeom prst="roundRect">
            <a:avLst>
              <a:gd name="adj" fmla="val 168458"/>
            </a:avLst>
          </a:prstGeom>
          <a:solidFill>
            <a:srgbClr val="C49F8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0513635" y="3792498"/>
            <a:ext cx="217051" cy="2170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09284" y="4353282"/>
            <a:ext cx="2728198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Камера с тряской экрана</a:t>
            </a:r>
            <a:endParaRPr lang="en-US" sz="1750" dirty="0"/>
          </a:p>
        </p:txBody>
      </p:sp>
      <p:sp>
        <p:nvSpPr>
          <p:cNvPr id="26" name="Text 20"/>
          <p:cNvSpPr/>
          <p:nvPr/>
        </p:nvSpPr>
        <p:spPr>
          <a:xfrm>
            <a:off x="7609284" y="4744522"/>
            <a:ext cx="602575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Эффект тряски экрана добавляет динамизма в моменты взрывов или ударов, усиливая погружение.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791647" y="5979557"/>
            <a:ext cx="6433066" cy="1626394"/>
          </a:xfrm>
          <a:prstGeom prst="roundRect">
            <a:avLst>
              <a:gd name="adj" fmla="val 6747"/>
            </a:avLst>
          </a:prstGeom>
          <a:solidFill>
            <a:srgbClr val="464342"/>
          </a:solidFill>
          <a:ln/>
        </p:spPr>
      </p:sp>
      <p:sp>
        <p:nvSpPr>
          <p:cNvPr id="28" name="Shape 22"/>
          <p:cNvSpPr/>
          <p:nvPr/>
        </p:nvSpPr>
        <p:spPr>
          <a:xfrm>
            <a:off x="791647" y="5956697"/>
            <a:ext cx="6433066" cy="91440"/>
          </a:xfrm>
          <a:prstGeom prst="roundRect">
            <a:avLst>
              <a:gd name="adj" fmla="val 29685"/>
            </a:avLst>
          </a:prstGeom>
          <a:solidFill>
            <a:srgbClr val="C49F8C"/>
          </a:solidFill>
          <a:ln/>
        </p:spPr>
      </p:sp>
      <p:sp>
        <p:nvSpPr>
          <p:cNvPr id="29" name="Shape 23"/>
          <p:cNvSpPr/>
          <p:nvPr/>
        </p:nvSpPr>
        <p:spPr>
          <a:xfrm>
            <a:off x="3736717" y="5708213"/>
            <a:ext cx="542806" cy="542806"/>
          </a:xfrm>
          <a:prstGeom prst="roundRect">
            <a:avLst>
              <a:gd name="adj" fmla="val 168458"/>
            </a:avLst>
          </a:prstGeom>
          <a:solidFill>
            <a:srgbClr val="C49F8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3899595" y="5871091"/>
            <a:ext cx="217051" cy="2170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95363" y="6431875"/>
            <a:ext cx="3048357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Механика ключей и дверей</a:t>
            </a:r>
            <a:endParaRPr lang="en-US" sz="1750" dirty="0"/>
          </a:p>
        </p:txBody>
      </p:sp>
      <p:sp>
        <p:nvSpPr>
          <p:cNvPr id="32" name="Text 25"/>
          <p:cNvSpPr/>
          <p:nvPr/>
        </p:nvSpPr>
        <p:spPr>
          <a:xfrm>
            <a:off x="995363" y="6823115"/>
            <a:ext cx="602563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Решайте головоломки, собирая ключи, чтобы открыть новые пути и продвинуться по уровням.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7405568" y="5979557"/>
            <a:ext cx="6433185" cy="1626394"/>
          </a:xfrm>
          <a:prstGeom prst="roundRect">
            <a:avLst>
              <a:gd name="adj" fmla="val 6747"/>
            </a:avLst>
          </a:prstGeom>
          <a:solidFill>
            <a:srgbClr val="464342"/>
          </a:solidFill>
          <a:ln/>
        </p:spPr>
      </p:sp>
      <p:sp>
        <p:nvSpPr>
          <p:cNvPr id="34" name="Shape 27"/>
          <p:cNvSpPr/>
          <p:nvPr/>
        </p:nvSpPr>
        <p:spPr>
          <a:xfrm>
            <a:off x="7405568" y="5956697"/>
            <a:ext cx="6433185" cy="91440"/>
          </a:xfrm>
          <a:prstGeom prst="roundRect">
            <a:avLst>
              <a:gd name="adj" fmla="val 29685"/>
            </a:avLst>
          </a:prstGeom>
          <a:solidFill>
            <a:srgbClr val="C49F8C"/>
          </a:solidFill>
          <a:ln/>
        </p:spPr>
      </p:sp>
      <p:sp>
        <p:nvSpPr>
          <p:cNvPr id="35" name="Shape 28"/>
          <p:cNvSpPr/>
          <p:nvPr/>
        </p:nvSpPr>
        <p:spPr>
          <a:xfrm>
            <a:off x="10350758" y="5708213"/>
            <a:ext cx="542806" cy="542806"/>
          </a:xfrm>
          <a:prstGeom prst="roundRect">
            <a:avLst>
              <a:gd name="adj" fmla="val 168458"/>
            </a:avLst>
          </a:prstGeom>
          <a:solidFill>
            <a:srgbClr val="C49F8C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513635" y="5871091"/>
            <a:ext cx="217051" cy="2170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609284" y="6431875"/>
            <a:ext cx="226194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Несколько уровней</a:t>
            </a:r>
            <a:endParaRPr lang="en-US" sz="1750" dirty="0"/>
          </a:p>
        </p:txBody>
      </p:sp>
      <p:sp>
        <p:nvSpPr>
          <p:cNvPr id="38" name="Text 30"/>
          <p:cNvSpPr/>
          <p:nvPr/>
        </p:nvSpPr>
        <p:spPr>
          <a:xfrm>
            <a:off x="7609284" y="6823115"/>
            <a:ext cx="6025753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Исследуйте разнообразные локации замка, каждая из которых предлагает новые испытания и секреты.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4746"/>
            <a:ext cx="112477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Ключевые классы в Arcade-платформере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00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Platformer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8164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Основной класс игры, управляющий всей логикой, циклами обновления и взаимодействиями.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EffectsManager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21540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Отвечает за создание и управление всеми визуальными и звуковыми эффектами, такими как частицы и тряска экрана.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309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PlayerAnimation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11207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Управляет анимацией главного героя, обеспечивая плавные переходы между различными состояниями (ходьба, прыжки).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1005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Level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268164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Система для загрузки и управления игровыми уровнями, включая расположение плиток, врагов и объектов.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99521" y="4025503"/>
            <a:ext cx="6244709" cy="1428750"/>
          </a:xfrm>
          <a:prstGeom prst="roundRect">
            <a:avLst>
              <a:gd name="adj" fmla="val 2381"/>
            </a:avLst>
          </a:prstGeom>
          <a:solidFill>
            <a:srgbClr val="53504F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8210" y="4025503"/>
            <a:ext cx="6267331" cy="1428750"/>
          </a:xfrm>
          <a:prstGeom prst="roundRect">
            <a:avLst>
              <a:gd name="adj" fmla="val 2381"/>
            </a:avLst>
          </a:prstGeom>
          <a:solidFill>
            <a:srgbClr val="53504F"/>
          </a:solidFill>
          <a:ln/>
        </p:spPr>
      </p:sp>
      <p:sp>
        <p:nvSpPr>
          <p:cNvPr id="13" name="Text 11"/>
          <p:cNvSpPr/>
          <p:nvPr/>
        </p:nvSpPr>
        <p:spPr>
          <a:xfrm>
            <a:off x="7815024" y="4195524"/>
            <a:ext cx="581370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highlight>
                  <a:srgbClr val="53504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Автоматическое создание зеркальных текстур
texture_left = self.create_flipped_texture(texture)
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70940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Этот метод автоматически создает отзеркаленные версии текстур, упрощая работу с анимацией персонажей.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3738"/>
            <a:ext cx="96640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Динамичные визуальные эффекты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6752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Система частиц: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Динамичные частицы для эффектов прыжков и приземлений, делающие каждое движение более выразительным.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754755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Тряска экрана: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Реалистичная тряска экрана во время мощных воздействий или событий, усиливающая погружение.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59856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Следы в воздухе: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Визуальные следы, остающиеся за персонажем при быстром движении в воздухе, добавляющие ощущение скорости.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727859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Плавная анимация камеры: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Камера, которая мягко следует за игроком, обеспечивая комфортный обзор и кинематографичность.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516124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855" y="2269551"/>
            <a:ext cx="2313363" cy="3696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5034"/>
            <a:ext cx="8899208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Интуитивная механика управления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69081"/>
            <a:ext cx="1020723" cy="15028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8586" y="237315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Перемещение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018586" y="2814399"/>
            <a:ext cx="11818025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Используйте клавиши ←/A для движения влево и →/D для движения вправо. Переменная скорость в зависимости от контекста.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671888"/>
            <a:ext cx="1020723" cy="12247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18586" y="387596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Подъём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018586" y="4317206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Клавиша ↑/W позволяет подняться по лестнице, открывая вертикальное исследование уровней.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96683"/>
            <a:ext cx="1020723" cy="12247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18586" y="510075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Прыжок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2018586" y="5542002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Нажмите SPACE для прыжка, преодолевая препятствия и достигая труднодоступных мест.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93790" y="6351032"/>
            <a:ext cx="13042821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Наш платформер предлагает разнообразные типы движения: по земле, по лестницам и в воздухе, обеспечивая гибкий и отзывчивый игровой процесс.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6241" y="3760351"/>
            <a:ext cx="6197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Спасибо за внимание!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Office PowerPoint</Application>
  <PresentationFormat>Произвольный</PresentationFormat>
  <Paragraphs>48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Calibri</vt:lpstr>
      <vt:lpstr>Consolas</vt:lpstr>
      <vt:lpstr>Gelasio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Даниил Авсюков</dc:creator>
  <cp:lastModifiedBy>Даниил Авсюков</cp:lastModifiedBy>
  <cp:revision>2</cp:revision>
  <dcterms:created xsi:type="dcterms:W3CDTF">2026-01-15T18:20:18Z</dcterms:created>
  <dcterms:modified xsi:type="dcterms:W3CDTF">2026-01-15T18:30:45Z</dcterms:modified>
</cp:coreProperties>
</file>